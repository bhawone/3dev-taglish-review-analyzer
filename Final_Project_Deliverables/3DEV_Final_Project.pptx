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x="18288000" cy="10287000"/>
  <p:notesSz cx="6858000" cy="9144000"/>
  <p:embeddedFontLst>
    <p:embeddedFont>
      <p:font typeface="Archivo Black" charset="1" panose="020B0A03020202020B04"/>
      <p:regular r:id="rId52"/>
    </p:embeddedFont>
    <p:embeddedFont>
      <p:font typeface="Garet Bold" charset="1" panose="00000000000000000000"/>
      <p:regular r:id="rId53"/>
    </p:embeddedFont>
    <p:embeddedFont>
      <p:font typeface="Garet Light" charset="1" panose="00000000000000000000"/>
      <p:regular r:id="rId54"/>
    </p:embeddedFont>
    <p:embeddedFont>
      <p:font typeface="Garet" charset="1" panose="00000000000000000000"/>
      <p:regular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fonts/font52.fntdata" Type="http://schemas.openxmlformats.org/officeDocument/2006/relationships/font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44072"/>
            <a:ext cx="16230600" cy="60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TAGLISH 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 REVIEW UNDERSTANDING WITH MULTILINGUAL TRANSFORMERS: SENTIMENT, ASPECT, AND DECEPTION ANALYSIS FOR PHILIPPINE E-COMMERCE</a:t>
            </a:r>
          </a:p>
          <a:p>
            <a:pPr algn="r" marL="0" indent="0" lvl="0">
              <a:lnSpc>
                <a:spcPts val="678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2800854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17.8: Strengthen Science, Technology and Innovation Capacity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83154"/>
            <a:ext cx="14597270" cy="445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Objective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Fully operationalize the technology bank and science, technology and innovation capacity-building mechanism</a:t>
            </a:r>
          </a:p>
          <a:p>
            <a:pPr algn="l">
              <a:lnSpc>
                <a:spcPts val="3599"/>
              </a:lnSpc>
            </a:pP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Focus Areas: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Technology transfer to developing countries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Capacity building in ICT and AI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Open access to scientific knowledge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materials and documentation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Multi-stakeholder partnerships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Local language technology resources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251423"/>
            <a:ext cx="1280085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Alignment with SDG 17.8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57679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Primary Contribution: Capacity building in ICT and AI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Open Taglish NLP resources for Philippine e-commerce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Comprehensive documentation and training materials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and model documentation for reproducibility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Enables stakeholders to apply language technologies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Multi-stakeholder partnerships for data access and evaluation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Supports sustainable impact and local relevance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735674"/>
            <a:ext cx="1459727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the Project Contributes to SDG 17.8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740453"/>
            <a:ext cx="16766426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Open Resources: Scripts, experiment exports, interface components published freely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Documentation: Complete dataset cards, model cards, methodology documentation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Materials: Reproducible notebooks, experiment logs, evaluation frameworks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Capacity Building: Enables students, researchers, and businesses to use Taglish NLP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Technology Transfer: Multilingual transformer models adapted for local language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Local Relevance: Addresses Philippine e-commerce needs with Taglish support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Sustainable Impact: Long-term resources for continued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31536" t="0" r="31536" b="0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3430366" y="4880657"/>
            <a:ext cx="3828934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Taglish Product Review Understanding with Multilingual Transformers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732" y="2847340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FiReCS (7,338 product reviews from Philippine e-commerce)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847340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7601" y="1160124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Problem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Taglish (Tagalog-English code-switched) sentiment analysis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60124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55907" y="4001198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530090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5864" y="4530090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Task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Tri-class classification (Negative=0, Neutral=1, Positive=2)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212840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5864" y="6212840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Approach: 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Baseline (TF-IDF + LogReg) vs Transformer (XLM-RoBERTa-base)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895590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5864" y="7895590"/>
            <a:ext cx="3120902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Goal: 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Achieve &gt;80% accuracy on held-out test 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815115" y="2676525"/>
          <a:ext cx="8927143" cy="4933950"/>
        </p:xfrm>
        <a:graphic>
          <a:graphicData uri="http://schemas.openxmlformats.org/drawingml/2006/table">
            <a:tbl>
              <a:tblPr/>
              <a:tblGrid>
                <a:gridCol w="2892740"/>
                <a:gridCol w="6034402"/>
              </a:tblGrid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Total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7,338 reviews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Training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5,870 (80%)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Validation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1,468 (10%)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Test 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734 (10%)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Classes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3 (Neg/Neu/Pos)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3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Language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Taglish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-706637" y="169300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9313" y="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56345" y="2053326"/>
            <a:ext cx="6531462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: FiReCS - Key Statistics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Objectives &amp; Deliverables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42505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 reproducible sentiment analysis pipeline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Compare baseline vs transformer model performance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Fine-tune multilingual transformer for Taglish text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BF63"/>
                </a:solidFill>
                <a:latin typeface="Garet"/>
                <a:ea typeface="Garet"/>
                <a:cs typeface="Garet"/>
                <a:sym typeface="Garet"/>
              </a:rPr>
              <a:t>Achieve &gt;80% accuracy on test set (both models exceeded)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 deployment-ready model with API and UI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Document all experiments with comprehensive logging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 u="none">
                <a:solidFill>
                  <a:srgbClr val="00BF63"/>
                </a:solidFill>
                <a:latin typeface="Garet"/>
                <a:ea typeface="Garet"/>
                <a:cs typeface="Garet"/>
                <a:sym typeface="Garet"/>
              </a:rPr>
              <a:t>Ensure full reproducibility with split persistence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176208"/>
            <a:ext cx="16230600" cy="179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SEGMENT 1: SETUP AND 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PREPROCESSING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5239" y="6090961"/>
            <a:ext cx="8494061" cy="83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8"/>
              </a:lnSpc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PRESENTER: JUSTIN CLARK A. POSADAS</a:t>
            </a:r>
          </a:p>
          <a:p>
            <a:pPr algn="r" marL="0" indent="0" lvl="0">
              <a:lnSpc>
                <a:spcPts val="3378"/>
              </a:lnSpc>
              <a:spcBef>
                <a:spcPct val="0"/>
              </a:spcBef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 TECHNICAL ROLE: DATA PREPROCESSING LEAD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Environment Setup &amp; Libraries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102" y="3583154"/>
            <a:ext cx="14597270" cy="445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Core Libraries: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transformers, datasets, accelerate, scikit-learn, torch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NLP Stack: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Hugging Face transformers, tokenizers, datasets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Device Detection: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CUDA GPU when available, CPU fallback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Random Seed: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42 (for reproducibility across all operations)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Platform Support: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Google Colab, local Jupyter, Windows/Linux compatible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7279037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Loading Pipeline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102" y="3785503"/>
            <a:ext cx="14597270" cy="266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Source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FiReCS.csv with review and label columns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Validation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Automatic check for required columns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Types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Labels cast to integers (0, 1, 2)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ID Assignment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Unique identifier for each sample (0 to N-1)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Empty Row Handling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Automatic removal of NaN values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Column Normalization: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 column names lowercased for consistency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987091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Cleaning Pipeline - Detailed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102" y="3785503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HTML Tag Removal: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Strips &lt;tags&gt; and unescapes HTML entities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Control Character Removal: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Removes non-printable chars (\x00-\x1F)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Character Repeat Normalization: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Caps elongated repeats (e.g., 'sooo' → 'soo')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Whitespace Normalization: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Standardizes multiple spaces to single space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Duplicate Removal: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Removes exact duplicate (review, label) pairs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Preservation: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Case, emojis, and Taglish characteristics maintained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Code-Switch Ratio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Computed for EDA (not used in training)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987091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Stratified 80/10/10 Split - Technical Details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5962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Initial Split: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80% train, 20% validation (stratified by label)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Secondary Split: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20% validation → 10% val, 10% test (stratified)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Stratification Method: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sklearn train_test_split with stratify=df['label']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Random State: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42 (ensures reproducibility)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Split Persistence: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train_ids.csv, val_ids.csv, test_ids.csv saved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Verification: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Label distributions printed and verified for consistency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1207879"/>
          <a:ext cx="10417579" cy="7871242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443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5,870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Validation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1,468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734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02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Label Balance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~32/35/33%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89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Reproducibility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IDs saved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426954"/>
            <a:ext cx="5585369" cy="237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Split Results - Verified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987091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Ground-Truth Test Set Export - Deliverable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102" y="3785503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Automatic Export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Generated in notebook Cell 7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File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ground_truth_test_set.csv (734 samples)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Columns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review, label (exactly 2 columns as required)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Timing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Exported BEFORE any FAST_MODE downsampling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Consistency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Matches test_ids.csv exactly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Verification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Automatic checks ensure correct structure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Purpose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Enables metric verification and reproducibility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987091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Choices - Setup &amp; Preprocessing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09340"/>
            <a:ext cx="16766426" cy="2220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Stratified Splitting?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Ensures balanced evaluation, prevents class bias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Light Cleaning?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Preserves Taglish characteristics (case, emojis, code-switching)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Persist Split IDs?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Guarantees all experiments use identical test sets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Code-Switch Ratio?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EDA feature to understand data characteristics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Evidence: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Consistent label distributions (32/35/33%) across all splits verified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176208"/>
            <a:ext cx="16230600" cy="179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SEGMENT 2: TRAINING AND AUT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OMATIC FINE-TUNING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1479" y="6090961"/>
            <a:ext cx="10087821" cy="83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8"/>
              </a:lnSpc>
              <a:spcBef>
                <a:spcPct val="0"/>
              </a:spcBef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PRESENTER: BHARON CHRISTOPHER P. CANDELARIA TECHNICAL ROLE: TRAINING LEAD &amp; TECHNICAL WRITER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9870910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Baseline Model: TF-IDF + 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5962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Vectorization: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TF-IDF with word 1-2 ngrams, max_features=50,000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Lowercase: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True (normalization)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Classifier: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LogisticRegression(max_iter=2000, n_jobs=None)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Grid Search: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5-fold cross-validation with multiple configurations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Best Config: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C=4.0, word 1-2 ngrams, class_weight=None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Performance: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96.87% accuracy, 96.89% macro-F1 on test set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951848"/>
          <a:ext cx="10417579" cy="8383303"/>
        </p:xfrm>
        <a:graphic>
          <a:graphicData uri="http://schemas.openxmlformats.org/drawingml/2006/table">
            <a:tbl>
              <a:tblPr/>
              <a:tblGrid>
                <a:gridCol w="5377979"/>
                <a:gridCol w="5039599"/>
              </a:tblGrid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96.87%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96.89%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Negative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98.35%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9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Neutral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95.48%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Positive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96.84%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734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0923"/>
            <a:ext cx="5585369" cy="180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</a:t>
            </a: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aseline Model - Test Set Performance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Transformer Model: XLM-RoBERTa-base - Specifications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5962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xlm-roberta-base (270M parameters)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Pre-training: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100+ languages including Tagalog and English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Tokenization: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SentencePiece BPE with 250k vocabulary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Max Sequence Length: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256 tokens (truncation/padding)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Mixed Precision: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FP16 training (reduces memory, speeds training)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Device: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CUDA GPU (Tesla T4, 15.83 GB memory)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XLM-RoBERTa?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84300"/>
            <a:ext cx="14597270" cy="266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BF63"/>
                </a:solidFill>
                <a:latin typeface="Garet Bold"/>
                <a:ea typeface="Garet Bold"/>
                <a:cs typeface="Garet Bold"/>
                <a:sym typeface="Garet Bold"/>
              </a:rPr>
              <a:t>Multilingual Pre-training</a:t>
            </a:r>
            <a:r>
              <a:rPr lang="en-US" sz="2571">
                <a:solidFill>
                  <a:srgbClr val="00BF63"/>
                </a:solidFill>
                <a:latin typeface="Garet"/>
                <a:ea typeface="Garet"/>
                <a:cs typeface="Garet"/>
                <a:sym typeface="Garet"/>
              </a:rPr>
              <a:t>: Trained on 100+ languages including Tagalog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BF63"/>
                </a:solidFill>
                <a:latin typeface="Garet Bold"/>
                <a:ea typeface="Garet Bold"/>
                <a:cs typeface="Garet Bold"/>
                <a:sym typeface="Garet Bold"/>
              </a:rPr>
              <a:t>Code-Switching Support</a:t>
            </a:r>
            <a:r>
              <a:rPr lang="en-US" sz="2571">
                <a:solidFill>
                  <a:srgbClr val="00BF63"/>
                </a:solidFill>
                <a:latin typeface="Garet"/>
                <a:ea typeface="Garet"/>
                <a:cs typeface="Garet"/>
                <a:sym typeface="Garet"/>
              </a:rPr>
              <a:t>: Handles mixed-language text naturally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Proven Performance: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State-of-the-art on multilingual NLP tasks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Vocabulary Coverage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250k tokens cover Taglish vocabulary well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Research Evidence: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Previous studies show effectiveness on Taglish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Architecture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RoBERTa-based (robust, well-tested architecture)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Automatic Hyperparameter Tuning - Detailed Configuration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5962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Strategy: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Grid search + Random search combination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Grid Search: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Systematic exploration of key parameters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Random Search: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Efficient sampling of hyperparameter space (Optuna)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Parameters Tuned: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lr, batch_size, weight_decay, warmup_steps, epochs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Selection Criteria: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Validation macro-F1 score (primary metric)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Best Configuration: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lr=3e-5, batch=32, weight_decay=0.01, epochs=3, max_len=256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Training Infrastructure - Complete Setup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75962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Early Stopping: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Patience=2 epochs, monitors validation F1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 Weighting: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Evaluated but not used (no significant improvement)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Learning Rate Scheduler: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Linear warmup + decay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Gradient Accumulation: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Effective batch size management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Checkpointing: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Saves best model based on validation F1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Mixed Precision:</a:t>
            </a:r>
          </a:p>
          <a:p>
            <a:pPr algn="l" marL="1110193" indent="-370064" lvl="2">
              <a:lnSpc>
                <a:spcPts val="3599"/>
              </a:lnSpc>
              <a:buFont typeface="Arial"/>
              <a:buChar char="⚬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FP16 reduces memory usage by ~50%, speeds training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951848"/>
          <a:ext cx="10417579" cy="8383303"/>
        </p:xfrm>
        <a:graphic>
          <a:graphicData uri="http://schemas.openxmlformats.org/drawingml/2006/table">
            <a:tbl>
              <a:tblPr/>
              <a:tblGrid>
                <a:gridCol w="5377979"/>
                <a:gridCol w="5039599"/>
              </a:tblGrid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Epochs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3.0 (early stopped)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Batch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Learning 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3e-5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9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Weight Decay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0.01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Max Length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256 tokens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FP16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Enabled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0923"/>
            <a:ext cx="5585369" cy="1805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</a:t>
            </a: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ansformer Training - Final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951848"/>
          <a:ext cx="10417579" cy="8383303"/>
        </p:xfrm>
        <a:graphic>
          <a:graphicData uri="http://schemas.openxmlformats.org/drawingml/2006/table">
            <a:tbl>
              <a:tblPr/>
              <a:tblGrid>
                <a:gridCol w="5377979"/>
                <a:gridCol w="5039599"/>
              </a:tblGrid>
              <a:tr h="129461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80.93%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720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81.20%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Negative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79.01%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9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Neutral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75.90%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Positive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88.70%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734 samples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0923"/>
            <a:ext cx="5585369" cy="237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</a:t>
            </a: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ansformer Model - Test Set Performance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Export for Deployment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561665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Quantization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PyTorch quantized model (reduced size ~4x)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ONNX Export: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Cross-platform deployment format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Tokenizer Files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SentencePiece model, configs, special tokens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Checkpoint Location: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checkpoints/xlmrb/best/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Format Compatibility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Hugging Face transformers compatible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Purpose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Enables FastAPI backend and Streamlit UI deployment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File Sizes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Quantized model ~68MB, full model ~270MB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Choices - Training &amp; Fine-tuning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135479"/>
            <a:ext cx="14597270" cy="5354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XLM-RoBERTa?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Multilingual support, proven on code-switched text, 100+ languages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Grid + Random Search?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Systematic exploration with efficient sampling (Optuna)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Early Stopping?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Prevents overfitting, saves computational resources (patience=2)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Class Weighting?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Evaluated but not needed (balanced dataset, no improvement)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Quantization?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Reduces model size 4x for deployment while maintaining performance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Evidence: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Training logs, hyperparameter search results, performance metrics, experiment exports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604833"/>
            <a:ext cx="16230600" cy="94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SEGMENT 3: EVALU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1479" y="5640201"/>
            <a:ext cx="10087821" cy="831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8"/>
              </a:lnSpc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PRESENTER: EMJHAY THERESA B. TUMULAK</a:t>
            </a:r>
          </a:p>
          <a:p>
            <a:pPr algn="r" marL="0" indent="0" lvl="0">
              <a:lnSpc>
                <a:spcPts val="3378"/>
              </a:lnSpc>
              <a:spcBef>
                <a:spcPct val="0"/>
              </a:spcBef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TECHNICAL ROLE: EVALUATION LEAD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Comprehensive Evaluation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54667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Validation Set: 1,468 samples (evaluated during training)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Test Set: 734 samples (held-out, final evaluation only)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etrics: Accuracy, Precision, Recall, F1-score (macro and weighted)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Per-Class Metrics: Individual performance for each sentiment class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Confusion Matrices: Visual representation of error patterns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Classification Reports: Detailed per-class breakdown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Export Formats: CSV, JSON, Markdown for easy access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Baseline Model - Confusion Matrix (Test Set)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8613" y="6736990"/>
            <a:ext cx="10991594" cy="154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Perfect negative classification: 238/238 correct (100% recall)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Neutral: 243/255 correct (8 false negatives, 4 false positives)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Positive: 230/241 correct (11 false negatives, 0 false positives)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Overall accuracy: 96.87% (711/734 correct predictions)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3044630"/>
            <a:ext cx="5583743" cy="5583743"/>
            <a:chOff x="0" y="0"/>
            <a:chExt cx="5201920" cy="5201920"/>
          </a:xfrm>
        </p:grpSpPr>
        <p:sp>
          <p:nvSpPr>
            <p:cNvPr name="Freeform 9" id="9" descr="CM_baseline_test.png"/>
            <p:cNvSpPr/>
            <p:nvPr/>
          </p:nvSpPr>
          <p:spPr>
            <a:xfrm flipH="false" flipV="false" rot="0">
              <a:off x="0" y="0"/>
              <a:ext cx="5201920" cy="5201920"/>
            </a:xfrm>
            <a:custGeom>
              <a:avLst/>
              <a:gdLst/>
              <a:ahLst/>
              <a:cxnLst/>
              <a:rect r="r" b="b" t="t" l="l"/>
              <a:pathLst>
                <a:path h="5201920" w="5201920">
                  <a:moveTo>
                    <a:pt x="0" y="0"/>
                  </a:moveTo>
                  <a:lnTo>
                    <a:pt x="5201920" y="0"/>
                  </a:lnTo>
                  <a:lnTo>
                    <a:pt x="5201920" y="5201920"/>
                  </a:lnTo>
                  <a:lnTo>
                    <a:pt x="0" y="52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666" t="0" r="-16666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018613" y="3520157"/>
            <a:ext cx="4217702" cy="2611444"/>
            <a:chOff x="0" y="0"/>
            <a:chExt cx="3473976" cy="2150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656" y="14710"/>
              <a:ext cx="3446622" cy="2121492"/>
            </a:xfrm>
            <a:custGeom>
              <a:avLst/>
              <a:gdLst/>
              <a:ahLst/>
              <a:cxnLst/>
              <a:rect r="r" b="b" t="t" l="l"/>
              <a:pathLst>
                <a:path h="2121492" w="3446622">
                  <a:moveTo>
                    <a:pt x="0" y="0"/>
                  </a:moveTo>
                  <a:lnTo>
                    <a:pt x="3446622" y="0"/>
                  </a:lnTo>
                  <a:lnTo>
                    <a:pt x="3446622" y="2121491"/>
                  </a:lnTo>
                  <a:lnTo>
                    <a:pt x="0" y="212149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3933" cy="2150911"/>
            </a:xfrm>
            <a:custGeom>
              <a:avLst/>
              <a:gdLst/>
              <a:ahLst/>
              <a:cxnLst/>
              <a:rect r="r" b="b" t="t" l="l"/>
              <a:pathLst>
                <a:path h="2150911" w="3473933">
                  <a:moveTo>
                    <a:pt x="13656" y="0"/>
                  </a:moveTo>
                  <a:lnTo>
                    <a:pt x="3460278" y="0"/>
                  </a:lnTo>
                  <a:cubicBezTo>
                    <a:pt x="3467875" y="0"/>
                    <a:pt x="3473933" y="6630"/>
                    <a:pt x="3473933" y="14710"/>
                  </a:cubicBezTo>
                  <a:lnTo>
                    <a:pt x="3473933" y="2136201"/>
                  </a:lnTo>
                  <a:cubicBezTo>
                    <a:pt x="3473933" y="2144385"/>
                    <a:pt x="3467779" y="2150911"/>
                    <a:pt x="3460278" y="2150911"/>
                  </a:cubicBezTo>
                  <a:lnTo>
                    <a:pt x="13656" y="2150911"/>
                  </a:lnTo>
                  <a:cubicBezTo>
                    <a:pt x="6059" y="2150911"/>
                    <a:pt x="0" y="2144281"/>
                    <a:pt x="0" y="2136201"/>
                  </a:cubicBezTo>
                  <a:lnTo>
                    <a:pt x="0" y="14710"/>
                  </a:lnTo>
                  <a:cubicBezTo>
                    <a:pt x="0" y="6630"/>
                    <a:pt x="6155" y="0"/>
                    <a:pt x="13656" y="0"/>
                  </a:cubicBezTo>
                  <a:moveTo>
                    <a:pt x="13656" y="29419"/>
                  </a:moveTo>
                  <a:lnTo>
                    <a:pt x="13656" y="14710"/>
                  </a:lnTo>
                  <a:lnTo>
                    <a:pt x="27311" y="14710"/>
                  </a:lnTo>
                  <a:lnTo>
                    <a:pt x="27311" y="2136201"/>
                  </a:lnTo>
                  <a:lnTo>
                    <a:pt x="13656" y="2136201"/>
                  </a:lnTo>
                  <a:lnTo>
                    <a:pt x="13656" y="2121492"/>
                  </a:lnTo>
                  <a:lnTo>
                    <a:pt x="3460278" y="2121492"/>
                  </a:lnTo>
                  <a:lnTo>
                    <a:pt x="3460278" y="2136201"/>
                  </a:lnTo>
                  <a:lnTo>
                    <a:pt x="3446622" y="2136201"/>
                  </a:lnTo>
                  <a:lnTo>
                    <a:pt x="3446622" y="14710"/>
                  </a:lnTo>
                  <a:lnTo>
                    <a:pt x="3460278" y="14710"/>
                  </a:lnTo>
                  <a:lnTo>
                    <a:pt x="3460278" y="29419"/>
                  </a:lnTo>
                  <a:lnTo>
                    <a:pt x="13656" y="29419"/>
                  </a:lnTo>
                  <a:close/>
                </a:path>
              </a:pathLst>
            </a:custGeom>
            <a:solidFill>
              <a:srgbClr val="1E90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504342" y="3922351"/>
            <a:ext cx="4598526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Accuracy: 96.87%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Macro F1: 96.89%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Negative: 98.35% F1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Neutral: 95.48% F1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Positive: 96.84% F1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Transformer Model - Confusion Matrix (Test Set)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8613" y="6478165"/>
            <a:ext cx="10991594" cy="1933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Negative: 175/238 correct (62 confused with neutral, 1 with positive)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Neutral: 211/255 correct (25 false negatives, 19 false positives)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Positive: 208/241 correct (5 false negatives, 28 false positives)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Overall accuracy: 80.93% (594/734 correct predictions)</a:t>
            </a:r>
          </a:p>
          <a:p>
            <a:pPr algn="l" marL="481736" indent="-240868" lvl="1">
              <a:lnSpc>
                <a:spcPts val="3123"/>
              </a:lnSpc>
              <a:buFont typeface="Arial"/>
              <a:buChar char="•"/>
            </a:pPr>
            <a:r>
              <a:rPr lang="en-US" sz="2231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Error pattern: More confusion between negative and neutral classes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28700" y="3044630"/>
            <a:ext cx="5583743" cy="5583743"/>
            <a:chOff x="0" y="0"/>
            <a:chExt cx="5201920" cy="520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1920" cy="5201920"/>
            </a:xfrm>
            <a:custGeom>
              <a:avLst/>
              <a:gdLst/>
              <a:ahLst/>
              <a:cxnLst/>
              <a:rect r="r" b="b" t="t" l="l"/>
              <a:pathLst>
                <a:path h="5201920" w="5201920">
                  <a:moveTo>
                    <a:pt x="0" y="0"/>
                  </a:moveTo>
                  <a:lnTo>
                    <a:pt x="5201920" y="0"/>
                  </a:lnTo>
                  <a:lnTo>
                    <a:pt x="5201920" y="5201920"/>
                  </a:lnTo>
                  <a:lnTo>
                    <a:pt x="0" y="5201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018613" y="3520157"/>
            <a:ext cx="4217702" cy="2611444"/>
            <a:chOff x="0" y="0"/>
            <a:chExt cx="3473976" cy="215095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656" y="14710"/>
              <a:ext cx="3446622" cy="2121492"/>
            </a:xfrm>
            <a:custGeom>
              <a:avLst/>
              <a:gdLst/>
              <a:ahLst/>
              <a:cxnLst/>
              <a:rect r="r" b="b" t="t" l="l"/>
              <a:pathLst>
                <a:path h="2121492" w="3446622">
                  <a:moveTo>
                    <a:pt x="0" y="0"/>
                  </a:moveTo>
                  <a:lnTo>
                    <a:pt x="3446622" y="0"/>
                  </a:lnTo>
                  <a:lnTo>
                    <a:pt x="3446622" y="2121491"/>
                  </a:lnTo>
                  <a:lnTo>
                    <a:pt x="0" y="212149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3933" cy="2150911"/>
            </a:xfrm>
            <a:custGeom>
              <a:avLst/>
              <a:gdLst/>
              <a:ahLst/>
              <a:cxnLst/>
              <a:rect r="r" b="b" t="t" l="l"/>
              <a:pathLst>
                <a:path h="2150911" w="3473933">
                  <a:moveTo>
                    <a:pt x="13656" y="0"/>
                  </a:moveTo>
                  <a:lnTo>
                    <a:pt x="3460278" y="0"/>
                  </a:lnTo>
                  <a:cubicBezTo>
                    <a:pt x="3467875" y="0"/>
                    <a:pt x="3473933" y="6630"/>
                    <a:pt x="3473933" y="14710"/>
                  </a:cubicBezTo>
                  <a:lnTo>
                    <a:pt x="3473933" y="2136201"/>
                  </a:lnTo>
                  <a:cubicBezTo>
                    <a:pt x="3473933" y="2144385"/>
                    <a:pt x="3467779" y="2150911"/>
                    <a:pt x="3460278" y="2150911"/>
                  </a:cubicBezTo>
                  <a:lnTo>
                    <a:pt x="13656" y="2150911"/>
                  </a:lnTo>
                  <a:cubicBezTo>
                    <a:pt x="6059" y="2150911"/>
                    <a:pt x="0" y="2144281"/>
                    <a:pt x="0" y="2136201"/>
                  </a:cubicBezTo>
                  <a:lnTo>
                    <a:pt x="0" y="14710"/>
                  </a:lnTo>
                  <a:cubicBezTo>
                    <a:pt x="0" y="6630"/>
                    <a:pt x="6155" y="0"/>
                    <a:pt x="13656" y="0"/>
                  </a:cubicBezTo>
                  <a:moveTo>
                    <a:pt x="13656" y="29419"/>
                  </a:moveTo>
                  <a:lnTo>
                    <a:pt x="13656" y="14710"/>
                  </a:lnTo>
                  <a:lnTo>
                    <a:pt x="27311" y="14710"/>
                  </a:lnTo>
                  <a:lnTo>
                    <a:pt x="27311" y="2136201"/>
                  </a:lnTo>
                  <a:lnTo>
                    <a:pt x="13656" y="2136201"/>
                  </a:lnTo>
                  <a:lnTo>
                    <a:pt x="13656" y="2121492"/>
                  </a:lnTo>
                  <a:lnTo>
                    <a:pt x="3460278" y="2121492"/>
                  </a:lnTo>
                  <a:lnTo>
                    <a:pt x="3460278" y="2136201"/>
                  </a:lnTo>
                  <a:lnTo>
                    <a:pt x="3446622" y="2136201"/>
                  </a:lnTo>
                  <a:lnTo>
                    <a:pt x="3446622" y="14710"/>
                  </a:lnTo>
                  <a:lnTo>
                    <a:pt x="3460278" y="14710"/>
                  </a:lnTo>
                  <a:lnTo>
                    <a:pt x="3460278" y="29419"/>
                  </a:lnTo>
                  <a:lnTo>
                    <a:pt x="13656" y="29419"/>
                  </a:lnTo>
                  <a:close/>
                </a:path>
              </a:pathLst>
            </a:custGeom>
            <a:solidFill>
              <a:srgbClr val="1E90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7504342" y="3922351"/>
            <a:ext cx="4598526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Accuracy: 80.93%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Macro F1: 81.20%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Negative: 79.01% F1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Neutral: 75.90% F1</a:t>
            </a:r>
          </a:p>
          <a:p>
            <a:pPr algn="l">
              <a:lnSpc>
                <a:spcPts val="2900"/>
              </a:lnSpc>
            </a:pPr>
            <a:r>
              <a:rPr lang="en-US" sz="2417">
                <a:solidFill>
                  <a:srgbClr val="212121"/>
                </a:solidFill>
                <a:latin typeface="Garet"/>
                <a:ea typeface="Garet"/>
                <a:cs typeface="Garet"/>
                <a:sym typeface="Garet"/>
              </a:rPr>
              <a:t>Positive: 88.70% F1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028700" y="3044630"/>
            <a:ext cx="5583743" cy="5583743"/>
            <a:chOff x="0" y="0"/>
            <a:chExt cx="5201920" cy="5201920"/>
          </a:xfrm>
        </p:grpSpPr>
        <p:sp>
          <p:nvSpPr>
            <p:cNvPr name="Freeform 15" id="15" descr="CM_transformer_test.png"/>
            <p:cNvSpPr/>
            <p:nvPr/>
          </p:nvSpPr>
          <p:spPr>
            <a:xfrm flipH="false" flipV="false" rot="0">
              <a:off x="0" y="0"/>
              <a:ext cx="5201920" cy="5201920"/>
            </a:xfrm>
            <a:custGeom>
              <a:avLst/>
              <a:gdLst/>
              <a:ahLst/>
              <a:cxnLst/>
              <a:rect r="r" b="b" t="t" l="l"/>
              <a:pathLst>
                <a:path h="5201920" w="5201920">
                  <a:moveTo>
                    <a:pt x="0" y="0"/>
                  </a:moveTo>
                  <a:lnTo>
                    <a:pt x="5201920" y="0"/>
                  </a:lnTo>
                  <a:lnTo>
                    <a:pt x="5201920" y="5201920"/>
                  </a:lnTo>
                  <a:lnTo>
                    <a:pt x="0" y="520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666" t="0" r="-16666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201701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254565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39322"/>
            <a:ext cx="16230600" cy="61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sz="4554" spc="-3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Per-Class Performance Breakdown - Detailed Comparison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081019"/>
            <a:ext cx="7664150" cy="815442"/>
            <a:chOff x="0" y="0"/>
            <a:chExt cx="10218867" cy="10872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Baseline Model (TF-IDF + LogReg)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69575" y="2081019"/>
            <a:ext cx="7664150" cy="815442"/>
            <a:chOff x="0" y="0"/>
            <a:chExt cx="10218867" cy="10872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Transformer Model (XLM-RoBERTa)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220310"/>
            <a:ext cx="8115300" cy="622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Negative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98.35%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96.75%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100.00%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238 samples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Neutral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95.48%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95.67%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95.29%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255 samples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Positive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96.84%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98.29%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95.44%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241 samples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20310"/>
            <a:ext cx="8115300" cy="6225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Negative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79.01%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85.37%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73.53%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238 samples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Neutral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75.90%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70.10%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82.75%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255 samples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Positive Class: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88.70%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91.23%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86.31%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Support: 241 samples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Error Pattern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64117"/>
            <a:ext cx="14597270" cy="356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Baseline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Near-perfect on negative class (100% recall)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Baseline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Minor confusion between neutral and positive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Transformer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More balanced but lower overall accuracy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Transformer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Strongest on positive class (88.70% F1)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Transformer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Most challenging on neutral class (75.90% F1)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Transformer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Negative↔Neutral confusion (62 misclassifications)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Insight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Baseline may overfit to training patterns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</a:t>
            </a: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sight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Transformer shows more realistic generalization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201701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254565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039322"/>
            <a:ext cx="16230600" cy="61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4"/>
              </a:lnSpc>
              <a:spcBef>
                <a:spcPct val="0"/>
              </a:spcBef>
            </a:pPr>
            <a:r>
              <a:rPr lang="en-US" sz="4554" spc="-3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Comparison - Side-by-Side Analysis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081019"/>
            <a:ext cx="7664150" cy="815442"/>
            <a:chOff x="0" y="0"/>
            <a:chExt cx="10218867" cy="108725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Baseline Model (TF-IDF + LogReg)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69575" y="2081019"/>
            <a:ext cx="7664150" cy="815442"/>
            <a:chOff x="0" y="0"/>
            <a:chExt cx="10218867" cy="108725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Transformer Model (XLM-RoBERTa)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220310"/>
            <a:ext cx="8115300" cy="402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96.87%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Macro F1: 96.89%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Time: ~0.5 minutes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Size: ~50MB (TF-IDF)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Inference Speed: Very fast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Strengths: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Simple and fast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Excellent accuracy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Production-ready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Low resource usage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3220310"/>
            <a:ext cx="8115300" cy="402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80.93%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Macro F1: 81.20%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Time: ~2-3 minutes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Size: ~270MB (quantized: ~68MB)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Inference Speed: Moderate</a:t>
            </a:r>
          </a:p>
          <a:p>
            <a:pPr algn="l">
              <a:lnSpc>
                <a:spcPts val="2951"/>
              </a:lnSpc>
            </a:pP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Strengths: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Multilingual capability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Better generalization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Extensible architecture</a:t>
            </a:r>
          </a:p>
          <a:p>
            <a:pPr algn="l" marL="455217" indent="-227609" lvl="1">
              <a:lnSpc>
                <a:spcPts val="2951"/>
              </a:lnSpc>
              <a:buFont typeface="Arial"/>
              <a:buChar char="•"/>
            </a:pP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Context understanding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Metrics Consolidation and Reporting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64117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Experiment Logs: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All runs in exports/Experiments_All.xlsx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Classification Reports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Per-class metrics in CSV format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Confusion Matrices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PNG images saved and displayed inline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Metrics Summary: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JSON and Markdown formats for easy access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Member Logs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Individual experiment logs (Candelaria, Posadas, Tumulak)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Reproducibility: 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 evaluation results traceable to specific runs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b="true" sz="257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Export Tools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Automated scripts for metric consolidation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Technical Choices - Evaluation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664117"/>
            <a:ext cx="14597270" cy="356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Macro-F1?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Treats all classes equally, important for balanced assessment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Separate Validation and Test?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Prevents data leakage, ensures unbiased metrics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Per-Class Metrics?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Identifies which sentiment classes are challenging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Confusion Matrices?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Visual representation reveals error patterns clearly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Why Consolidated Logs?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Enables systematic comparison and reproducibility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Evidence: </a:t>
            </a:r>
            <a:r>
              <a:rPr lang="en-US" sz="2571">
                <a:solidFill>
                  <a:srgbClr val="FF3131"/>
                </a:solidFill>
                <a:latin typeface="Garet"/>
                <a:ea typeface="Garet"/>
                <a:cs typeface="Garet"/>
                <a:sym typeface="Garet"/>
              </a:rPr>
              <a:t>Classification reports, confusion matrices, metric summaries, experiment exports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385293"/>
            <a:ext cx="16230600" cy="179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 SUMM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ARY &amp; KEY ACHIEVEMENTS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71479" y="6155995"/>
            <a:ext cx="10087821" cy="41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8"/>
              </a:lnSpc>
              <a:spcBef>
                <a:spcPct val="0"/>
              </a:spcBef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PERFORMANCE METRICS AND PROJECT OUTCOMES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951848"/>
          <a:ext cx="10417579" cy="8383303"/>
        </p:xfrm>
        <a:graphic>
          <a:graphicData uri="http://schemas.openxmlformats.org/drawingml/2006/table">
            <a:tbl>
              <a:tblPr/>
              <a:tblGrid>
                <a:gridCol w="5377979"/>
                <a:gridCol w="5039599"/>
              </a:tblGrid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Baseline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96.87%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Baseline 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96.89%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33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Transformer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80.93%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943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Transformer Macro F1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81.20%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Target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&gt;80%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569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Both Exceeded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137736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70923"/>
            <a:ext cx="5585369" cy="294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</a:t>
            </a:r>
            <a:r>
              <a:rPr lang="en-US" sz="5808" spc="-458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nal Performance - Both Models Exceeded Target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Challenges and Solutions - Problem-Solving Highlights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375239"/>
            <a:ext cx="14597270" cy="490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Challenge: Taglish code-switching complexity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Solution: Multilingual transformer (XLM-RoBERTa) with appropriate tokenization</a:t>
            </a:r>
          </a:p>
          <a:p>
            <a:pPr algn="l">
              <a:lnSpc>
                <a:spcPts val="3599"/>
              </a:lnSpc>
            </a:pP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Challenge: Class imbalance concerns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Solution: Stratified splitting, class weighting evaluation (not needed)</a:t>
            </a:r>
          </a:p>
          <a:p>
            <a:pPr algn="l">
              <a:lnSpc>
                <a:spcPts val="3599"/>
              </a:lnSpc>
            </a:pP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Challenge: Reproducibility across team members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Solution: Split ID persistence, fixed random seeds, comprehensive logging</a:t>
            </a:r>
          </a:p>
          <a:p>
            <a:pPr algn="l">
              <a:lnSpc>
                <a:spcPts val="3599"/>
              </a:lnSpc>
            </a:pP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Challenge: Model deployment size constraints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Solution: Quantization (4x reduction) and ONNX export for efficient deployment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594425"/>
            <a:ext cx="16230600" cy="94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PROTOTYPE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9704" y="5507878"/>
            <a:ext cx="14949596" cy="41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78"/>
              </a:lnSpc>
              <a:spcBef>
                <a:spcPct val="0"/>
              </a:spcBef>
            </a:pPr>
            <a:r>
              <a:rPr lang="en-US" b="true" sz="2598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DEPLOYMENT-READY API (FASTAPI) AND UI (STREAMLIT) FOR DEMONSTRATIONS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37219" y="7797180"/>
            <a:ext cx="13213563" cy="74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86"/>
              </a:lnSpc>
              <a:spcBef>
                <a:spcPct val="0"/>
              </a:spcBef>
            </a:pPr>
            <a:r>
              <a:rPr lang="en-US" b="true" sz="2297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HTTPS://3DEV-TAGLISH-REVIEW-ANALYZER-JWFBS8TZKBZ7NSJATOAVGA.STREAMLIT.APP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60952" y="864655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PROTOTYPE LINK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7660" y="530214"/>
            <a:ext cx="17532679" cy="9226572"/>
          </a:xfrm>
          <a:custGeom>
            <a:avLst/>
            <a:gdLst/>
            <a:ahLst/>
            <a:cxnLst/>
            <a:rect r="r" b="b" t="t" l="l"/>
            <a:pathLst>
              <a:path h="9226572" w="17532679">
                <a:moveTo>
                  <a:pt x="0" y="0"/>
                </a:moveTo>
                <a:lnTo>
                  <a:pt x="17532680" y="0"/>
                </a:lnTo>
                <a:lnTo>
                  <a:pt x="17532680" y="9226572"/>
                </a:lnTo>
                <a:lnTo>
                  <a:pt x="0" y="9226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5475" y="780372"/>
            <a:ext cx="17237050" cy="8726256"/>
          </a:xfrm>
          <a:custGeom>
            <a:avLst/>
            <a:gdLst/>
            <a:ahLst/>
            <a:cxnLst/>
            <a:rect r="r" b="b" t="t" l="l"/>
            <a:pathLst>
              <a:path h="8726256" w="17237050">
                <a:moveTo>
                  <a:pt x="0" y="0"/>
                </a:moveTo>
                <a:lnTo>
                  <a:pt x="17237050" y="0"/>
                </a:lnTo>
                <a:lnTo>
                  <a:pt x="17237050" y="8726256"/>
                </a:lnTo>
                <a:lnTo>
                  <a:pt x="0" y="8726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823398"/>
            <a:ext cx="16230600" cy="942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CONCLUS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Contributions - Complete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35282"/>
            <a:ext cx="14597270" cy="266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Complete Taglish sentiment analysis system with baseline and transformer models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Reproducible research pipeline with comprehensive logging and split persistence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Baseline and transformer model implementations with detailed evaluation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eployment-ready API (FastAPI) and UI (Streamlit) for demonstrations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Thorough evaluation framework with per-class metrics and error analysis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Complete documentation: IEEE report, notebook, experiment logs, presentation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348014"/>
            <a:ext cx="11979826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Takeaways - Lessons Learned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35282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Taglish sentiment analysis is feasible with multilingual transformers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Baseline models can achieve excellent performance on this dataset (96.87%)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Reproducibility is critical for scientific validity (split persistence, logging)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Comprehensive evaluation reveals model strengths and weaknesses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Deployment considerations (quantization, ONNX) enable real-world use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Both models exceeded the 80% accuracy target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Code-switching complexity requires specialized multilingual approaches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5184098" y="-80463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48014"/>
            <a:ext cx="11979826" cy="225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SDG 17.8 Contributions: </a:t>
            </a:r>
          </a:p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Impact on Capacity Building</a:t>
            </a:r>
          </a:p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262539"/>
            <a:ext cx="14597270" cy="266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Enables re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searchers to reproduce results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Helps students learn NLP best practices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Allows businesses to deploy models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Supports continued development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Facilitates knowledge transfer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ds local ICT and AI capabilities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28784"/>
            <a:ext cx="14597270" cy="3116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Training Mat</a:t>
            </a: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erials: Comprehensive notebooks with step-by-step explanations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Documentation: FiReCS dataset card with usage guidelines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Documentation: Model cards explaining architecture and performance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Experiment Documentation: Detailed logs of all hyperparameter searches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Code Documentation: Well-commented scripts for all components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Deployment Guides: Instructions for API and UI setup</a:t>
            </a:r>
          </a:p>
          <a:p>
            <a:pPr algn="l" marL="555097" indent="-277548" lvl="1">
              <a:lnSpc>
                <a:spcPts val="3599"/>
              </a:lnSpc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Upskilling: Enables students and staff to learn multilingual NLP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2017016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2545657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2081019"/>
            <a:ext cx="7664150" cy="815442"/>
            <a:chOff x="0" y="0"/>
            <a:chExt cx="10218867" cy="108725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Multi-Stakeholder Partnerships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69575" y="2081019"/>
            <a:ext cx="7664150" cy="815442"/>
            <a:chOff x="0" y="0"/>
            <a:chExt cx="10218867" cy="108725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28575"/>
              <a:ext cx="10218867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Impact on Philippine E-Commerce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22859"/>
              <a:ext cx="10218867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220310"/>
            <a:ext cx="8115300" cy="4442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Academic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Collaboration between team members and university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Industry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Addresses e-commerce platform needs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Research Community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Contributes to Taglish NLP resources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Open Source: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Publishes all artifacts for public use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Government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Aligns with DTI e-commerce roadmap goals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MSMEs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Supports micro and small enterprises with review intelligence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Consumers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Enables better purchase decisions through accurate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3220310"/>
            <a:ext cx="8115300" cy="5185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Addresses DTI E-Commerce Roadmap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Digitization and logistics integration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Supports MSME Growth: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Enables small sellers to understand customer feedback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Consumer Protection: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Deception detection helps identify fake reviews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Local Language Support: 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Taglish analysis for authentic Philippine reviews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Scalable Solution: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Can be deployed across e-commerce platforms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Actionable Insights: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Aspect-based analysis provides specific feedback</a:t>
            </a:r>
          </a:p>
          <a:p>
            <a:pPr algn="l" marL="455218" indent="-227609" lvl="1">
              <a:lnSpc>
                <a:spcPts val="2951"/>
              </a:lnSpc>
              <a:buFont typeface="Arial"/>
              <a:buChar char="•"/>
            </a:pPr>
            <a:r>
              <a:rPr lang="en-US" b="true" sz="2108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Trust Building</a:t>
            </a:r>
            <a:r>
              <a:rPr lang="en-US" sz="2108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Accurate sentiment analysis improves marketplace trust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544072"/>
            <a:ext cx="16230600" cy="60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785"/>
              </a:lnSpc>
            </a:pPr>
            <a:r>
              <a:rPr lang="en-US" sz="7711" spc="-60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TAGLISH </a:t>
            </a:r>
            <a:r>
              <a:rPr lang="en-US" sz="7711" spc="-609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 REVIEW UNDERSTANDING WITH MULTILINGUAL TRANSFORMERS: SENTIMENT, ASPECT, AND DECEPTION ANALYSIS FOR PHILIPPINE E-COMMERCE</a:t>
            </a:r>
          </a:p>
          <a:p>
            <a:pPr algn="r" marL="0" indent="0" lvl="0">
              <a:lnSpc>
                <a:spcPts val="6785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932108" y="905895"/>
            <a:ext cx="1142866" cy="1142866"/>
          </a:xfrm>
          <a:custGeom>
            <a:avLst/>
            <a:gdLst/>
            <a:ahLst/>
            <a:cxnLst/>
            <a:rect r="r" b="b" t="t" l="l"/>
            <a:pathLst>
              <a:path h="1142866" w="1142866">
                <a:moveTo>
                  <a:pt x="0" y="0"/>
                </a:moveTo>
                <a:lnTo>
                  <a:pt x="1142866" y="0"/>
                </a:lnTo>
                <a:lnTo>
                  <a:pt x="1142866" y="1142865"/>
                </a:lnTo>
                <a:lnTo>
                  <a:pt x="0" y="1142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CANDELARIA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2144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POSADAS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363075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TUMULAK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3DEV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93204" y="1358900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ELECTIVE 4 -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DAG4-qpdL0w</dc:identifier>
  <dcterms:modified xsi:type="dcterms:W3CDTF">2011-08-01T06:04:30Z</dcterms:modified>
  <cp:revision>1</cp:revision>
  <dc:title>3DEV_Final_Project</dc:title>
</cp:coreProperties>
</file>